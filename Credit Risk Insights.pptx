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Montserrat" panose="00000500000000000000" pitchFamily="2" charset="0"/>
      <p:regular r:id="rId47"/>
      <p:bold r:id="rId48"/>
      <p:italic r:id="rId49"/>
      <p:boldItalic r:id="rId50"/>
    </p:embeddedFont>
    <p:embeddedFont>
      <p:font typeface="Urbanist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8B8A5-C0C6-47C9-866C-686796FCC816}">
  <a:tblStyle styleId="{7A68B8A5-C0C6-47C9-866C-686796FCC8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c472cf9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ddc472cf9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dc472cf9c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ddc472cf9c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dc472cf9c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ddc472cf9c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dc472cf9c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ddc472cf9c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c472cf9c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ddc472cf9c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dc472cf9c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ddc472cf9c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c472cf9c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ddc472cf9c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dc472cf9c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ddc472cf9c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dc472cf9c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ddc472cf9c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dc472cf9c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ddc472cf9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dc472cf9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ddc472cf9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dc472cf9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ddc472cf9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dc472cf9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ddc472cf9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dc472cf9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3ddc472cf9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dc472cf9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ddc472cf9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dc472cf9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3ddc472cf9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dc472cf9c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ddc472cf9c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dc472cf9c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g3ddc472cf9c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ddc472cf9c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g3ddc472cf9c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ddc472cf9c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g3ddc472cf9c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C326C-118F-C80D-942F-F6EFCC8397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54089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General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980307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60000"/>
                </a:solidFill>
                <a:latin typeface="Montserrat"/>
                <a:ea typeface="Montserrat"/>
                <a:cs typeface="Montserrat"/>
                <a:sym typeface="Montserrat"/>
              </a:rPr>
              <a:t>CREDIT RISK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INSIGHTS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74578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BBBBB"/>
                </a:solidFill>
                <a:latin typeface="Lato"/>
                <a:ea typeface="Lato"/>
                <a:cs typeface="Lato"/>
                <a:sym typeface="Lato"/>
              </a:rPr>
              <a:t>Data-Driven Intelligence for Strategic Decisioning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919412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8%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252912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1E3E"/>
                </a:solidFill>
                <a:latin typeface="Lato"/>
                <a:ea typeface="Lato"/>
                <a:cs typeface="Lato"/>
                <a:sym typeface="Lato"/>
              </a:rPr>
              <a:t>TARGET Baseline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2657475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</a:t>
            </a:r>
            <a:r>
              <a:rPr lang="en-US" sz="2100" b="1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3124200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 8% Target ratio represents our core Risk baseline. Any feature deviating significantly from this 8% "danger zone" line is identified as a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critical 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driver of creditworthiness.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457950" y="4276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72250" y="42767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Focus on high-variance categorical features.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57950" y="4581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72250" y="45815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Numerical thresholding against default probability.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RISK BASELINE ANALYSIS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64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-752400" y="-267652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1133475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60000"/>
                </a:solidFill>
                <a:latin typeface="Urbanist"/>
                <a:ea typeface="Urbanist"/>
                <a:cs typeface="Urbanist"/>
                <a:sym typeface="Urbanist"/>
              </a:rPr>
              <a:t>CREDIT DEFAULT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E6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>
                <a:solidFill>
                  <a:srgbClr val="E60000"/>
                </a:solidFill>
                <a:latin typeface="Urbanist"/>
                <a:ea typeface="Urbanist"/>
                <a:cs typeface="Urbanist"/>
                <a:sym typeface="Urbanist"/>
              </a:rPr>
              <a:t>DATA CLEANING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490625"/>
            <a:ext cx="110490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Data Cleaning &amp; Feature Engineering Strategy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9563100" y="415872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1. FINANCIAL OUTLIER STRATEGY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83145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Income &amp; Assets Capping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3260080"/>
            <a:ext cx="5238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Extreme financial values create skewness that disrupts model.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47750" y="4056310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Income: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Capped at 800K (Top 0.1%).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47750" y="4587775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Goods Price: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Capped at 2M (Top 0.3%).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47750" y="5119250"/>
            <a:ext cx="534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Log Transform: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Applied to normalize Income distribution.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9917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3063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62103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9639300" y="-24789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1351" y="3260075"/>
            <a:ext cx="5500675" cy="238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25" y="2254900"/>
            <a:ext cx="3492549" cy="4268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24" y="2254900"/>
            <a:ext cx="3492549" cy="426883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2. DEMOGRAPHIC CONSISTENCY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455812"/>
            <a:ext cx="27305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52500" y="2979687"/>
            <a:ext cx="286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Family Members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3655962"/>
            <a:ext cx="27306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Observations with 5+ members showed a significantly higher default risk (17%).</a:t>
            </a:r>
            <a:b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Capped at 5 to maintain statistical relevance while capturing the risk signal.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799" y="2455812"/>
            <a:ext cx="27305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4730799" y="2979687"/>
            <a:ext cx="286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Gender Imputation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730799" y="3655962"/>
            <a:ext cx="27306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Detected null values in the gender column. Applied Mode Imputation (Female) to preserve dataset size without introducing bias.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509099" y="2979687"/>
            <a:ext cx="286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Result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509099" y="3655962"/>
            <a:ext cx="27306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Standardized household features ready for one-hot encoding or ranking.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00900"/>
            <a:ext cx="5238750" cy="242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3. RESOLVING WORK HISTORY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781800" y="2979241"/>
            <a:ext cx="4660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The Correction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81800" y="3407866"/>
            <a:ext cx="4438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Step A: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Replace Nulls with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time values.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81800" y="3910756"/>
            <a:ext cx="443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Step B: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Set Occupation to "Unemployed" for these segments.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979241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8500" y="2998291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75" y="2400900"/>
            <a:ext cx="5238750" cy="43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1107325" y="2979241"/>
            <a:ext cx="4660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>
                <a:latin typeface="Urbanist"/>
                <a:ea typeface="Urbanist"/>
                <a:cs typeface="Urbanist"/>
                <a:sym typeface="Urbanist"/>
              </a:rPr>
              <a:t>  The Employed YEARS 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107325" y="3521106"/>
            <a:ext cx="44388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Detected 55,000 entries with impossible "Days Employed"  SO deal as “Nulls”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3475" y="2979241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107325" y="4243456"/>
            <a:ext cx="44388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look for them in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OCCUPATION_TYPE was same “Nulls”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107325" y="4610306"/>
            <a:ext cx="443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look for them in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INCOME_TYPE</a:t>
            </a: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All common to the "</a:t>
            </a:r>
            <a:r>
              <a:rPr lang="en-US" sz="17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Pensioner</a:t>
            </a: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 income type.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1107325" y="5561056"/>
            <a:ext cx="44388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 I changed OCCUPATION_TYPE to unemployed.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107325" y="5906306"/>
            <a:ext cx="443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 I changed </a:t>
            </a:r>
            <a:r>
              <a:rPr lang="en-US" sz="14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Days Employed </a:t>
            </a: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1100" b="1">
                <a:solidFill>
                  <a:schemeClr val="dk1"/>
                </a:solidFill>
              </a:rPr>
              <a:t>27 </a:t>
            </a: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YEAR.</a:t>
            </a:r>
            <a:b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[Median - Search]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0525" y="4821125"/>
            <a:ext cx="2719976" cy="197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28887" y="5002108"/>
            <a:ext cx="1588775" cy="161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4. OWNERSHIP &amp; CAR AGE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381750" y="283145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Logical Imputation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381750" y="3260080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Car Age nulls matched the 'Flag Own Car' = 0 perfectly.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858000" y="3762970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Null Fix: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Replaced with 0 years.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858000" y="4294435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Capping: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Clipped at 23 years.  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858000" y="4825900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 Only 3% of users owned cars </a:t>
            </a:r>
            <a:r>
              <a:rPr lang="en-US" sz="1650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23 years.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8058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3729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86876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0050" y="2476416"/>
            <a:ext cx="4762500" cy="3435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82603"/>
            <a:ext cx="2095500" cy="156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5950" y="3682603"/>
            <a:ext cx="2095500" cy="156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0400" y="3682603"/>
            <a:ext cx="2095500" cy="156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4851" y="3682603"/>
            <a:ext cx="2095500" cy="156701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5. TEMPORAL FEATURE ENGINEERING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2227212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Converted raw 'Days' features into '</a:t>
            </a:r>
            <a:r>
              <a:rPr lang="en-US" sz="1650" b="1" i="0" u="none" strike="noStrike" cap="non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Years</a:t>
            </a: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' to enhance interpretability and reduce model noise.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6011614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0000"/>
                </a:solidFill>
                <a:latin typeface="Urbanist"/>
                <a:ea typeface="Urbanist"/>
                <a:cs typeface="Urbanist"/>
                <a:sym typeface="Urbanist"/>
              </a:rPr>
              <a:t>Result: 5 Columns Dropped | 5 New "Year" Features Created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59142" y="4089499"/>
            <a:ext cx="1720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Age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00100" y="4518124"/>
            <a:ext cx="163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Days Birth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3743592" y="4089499"/>
            <a:ext cx="1720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ID Publish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3784550" y="4518124"/>
            <a:ext cx="163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Days ID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28043" y="4089499"/>
            <a:ext cx="1720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Registration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69000" y="4518124"/>
            <a:ext cx="163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Days Reg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712493" y="4089499"/>
            <a:ext cx="1720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Work History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753451" y="4518124"/>
            <a:ext cx="163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Days Employed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4466034"/>
            <a:ext cx="1104900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6. SPARSE FEATURE AGGREGATION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100" y="2036881"/>
            <a:ext cx="6862325" cy="459151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1574400" y="2269925"/>
            <a:ext cx="5995200" cy="3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A. Individual Document Flags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Some document flags show high risk.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( Document 2 → 31% default   —   Document 21 → 14% default )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However, the sample size is extremely small (13 and 100 customers)</a:t>
            </a:r>
            <a:br>
              <a:rPr lang="en-US">
                <a:solidFill>
                  <a:schemeClr val="dk1"/>
                </a:solidFill>
              </a:rPr>
            </a:br>
            <a:br>
              <a:rPr lang="en-US">
                <a:solidFill>
                  <a:schemeClr val="dk1"/>
                </a:solidFill>
              </a:rPr>
            </a:br>
            <a:r>
              <a:rPr lang="en-US" b="1">
                <a:solidFill>
                  <a:schemeClr val="dk1"/>
                </a:solidFill>
              </a:rPr>
              <a:t>B. Aggregation Strategy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all document flags were aggregated into a single feature representing the total number of submitted documents.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C. Final Feature Design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Most customers submitted only </a:t>
            </a:r>
            <a:r>
              <a:rPr lang="en-US" b="1">
                <a:solidFill>
                  <a:schemeClr val="dk1"/>
                </a:solidFill>
              </a:rPr>
              <a:t>one document (~270K), </a:t>
            </a:r>
            <a:br>
              <a:rPr lang="en-US" b="1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while very few submitted more than one (~7K, ~2.5%).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Therefore, the feature was simplified into a </a:t>
            </a:r>
            <a:r>
              <a:rPr lang="en-US" b="1">
                <a:solidFill>
                  <a:schemeClr val="dk1"/>
                </a:solidFill>
              </a:rPr>
              <a:t>binary </a:t>
            </a:r>
            <a:r>
              <a:rPr lang="en-US">
                <a:solidFill>
                  <a:schemeClr val="dk1"/>
                </a:solidFill>
              </a:rPr>
              <a:t>variable: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0 = no documents submitted, 1 = one or more documents submitted</a:t>
            </a:r>
            <a:endParaRPr sz="1700"/>
          </a:p>
        </p:txBody>
      </p:sp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3850" y="2336370"/>
            <a:ext cx="256100" cy="2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8. MISSING DATA PROTOCOL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1598562"/>
            <a:ext cx="11049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571500" y="2394793"/>
          <a:ext cx="11049000" cy="2725900"/>
        </p:xfrm>
        <a:graphic>
          <a:graphicData uri="http://schemas.openxmlformats.org/drawingml/2006/table">
            <a:tbl>
              <a:tblPr firstRow="1" bandRow="1">
                <a:noFill/>
                <a:tableStyleId>{7A68B8A5-C0C6-47C9-866C-686796FCC816}</a:tableStyleId>
              </a:tblPr>
              <a:tblGrid>
                <a:gridCol w="235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Null Threshold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Strategy Applied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Predictive Signal Check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&gt; </a:t>
                      </a:r>
                      <a:r>
                        <a:rPr lang="en-US" sz="1650" b="1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</a:t>
                      </a: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Dropped 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Sparsity / Low Information Gain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30% - </a:t>
                      </a:r>
                      <a:r>
                        <a:rPr lang="en-US" sz="1650" b="1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</a:t>
                      </a: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Importance Evaluation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Impute Median if critical, else Drop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&lt; 30%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Median Imputation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Impute Median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6" name="Google Shape;226;p22"/>
          <p:cNvSpPr txBox="1"/>
          <p:nvPr/>
        </p:nvSpPr>
        <p:spPr>
          <a:xfrm>
            <a:off x="571500" y="5406479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*Missing data flags were created for features where the absence of data suggested higher credit risk.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3738711"/>
            <a:ext cx="23535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925067" y="3738711"/>
            <a:ext cx="33735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6298555" y="3738711"/>
            <a:ext cx="53220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4422576"/>
            <a:ext cx="23535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925067" y="4422576"/>
            <a:ext cx="33735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298555" y="4422576"/>
            <a:ext cx="53220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5106441"/>
            <a:ext cx="23535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925067" y="5106441"/>
            <a:ext cx="33735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298555" y="5106441"/>
            <a:ext cx="5322000" cy="9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1070669"/>
            <a:ext cx="52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FINAL DATASET STATE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2277665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Ready for Prediction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2884586"/>
            <a:ext cx="49530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From 121 raw variables down to a refined set of predictive features. All noise points identified by the task have been addressed through logical imputation and statistical capping.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47750" y="4419897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Outliers Controlled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047750" y="4951362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Logical Consistency Restored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047750" y="5482828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Multicollinearity Removed</a:t>
            </a:r>
            <a:endParaRPr/>
          </a:p>
        </p:txBody>
      </p:sp>
      <p:pic>
        <p:nvPicPr>
          <p:cNvPr id="248" name="Google Shape;24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627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942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2569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047750" y="6040053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Nulls Cleaned</a:t>
            </a:r>
            <a:endParaRPr/>
          </a:p>
        </p:txBody>
      </p:sp>
      <p:pic>
        <p:nvPicPr>
          <p:cNvPr id="252" name="Google Shape;2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8291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4527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295275" y="3508027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 1: CATEGORICAL INSIGHTS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71500" y="420335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Analyzing Demographic &amp; Qualitative Features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-752400" y="-267652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9563100" y="415872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3125"/>
            <a:ext cx="3492549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43125"/>
            <a:ext cx="3492549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43125"/>
            <a:ext cx="3492549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5336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904875" y="3228975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MATERNITY LEAVE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904875" y="3695700"/>
            <a:ext cx="2825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40%</a:t>
            </a:r>
            <a:endParaRPr sz="700"/>
          </a:p>
        </p:txBody>
      </p:sp>
      <p:sp>
        <p:nvSpPr>
          <p:cNvPr id="276" name="Google Shape;276;p25"/>
          <p:cNvSpPr txBox="1"/>
          <p:nvPr/>
        </p:nvSpPr>
        <p:spPr>
          <a:xfrm>
            <a:off x="904875" y="4457700"/>
            <a:ext cx="2825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 single highest risk factor in income classification.</a:t>
            </a:r>
            <a:endParaRPr/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25336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4683174" y="3228975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UNEMPLOYED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4683174" y="3695700"/>
            <a:ext cx="2825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36%</a:t>
            </a:r>
            <a:endParaRPr sz="700"/>
          </a:p>
        </p:txBody>
      </p:sp>
      <p:sp>
        <p:nvSpPr>
          <p:cNvPr id="280" name="Google Shape;280;p25"/>
          <p:cNvSpPr txBox="1"/>
          <p:nvPr/>
        </p:nvSpPr>
        <p:spPr>
          <a:xfrm>
            <a:off x="4683174" y="4457700"/>
            <a:ext cx="2825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Critical danger zone requiring maximum focus.</a:t>
            </a:r>
            <a:endParaRPr/>
          </a:p>
        </p:txBody>
      </p:sp>
      <p:pic>
        <p:nvPicPr>
          <p:cNvPr id="281" name="Google Shape;281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5336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8461474" y="3228975"/>
            <a:ext cx="2967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LOW-SKILL LABOR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8461474" y="3695700"/>
            <a:ext cx="2825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17%</a:t>
            </a:r>
            <a:endParaRPr sz="700"/>
          </a:p>
        </p:txBody>
      </p:sp>
      <p:sp>
        <p:nvSpPr>
          <p:cNvPr id="284" name="Google Shape;284;p25"/>
          <p:cNvSpPr txBox="1"/>
          <p:nvPr/>
        </p:nvSpPr>
        <p:spPr>
          <a:xfrm>
            <a:off x="8461474" y="4457700"/>
            <a:ext cx="2825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Significant default elevation compared to baseline.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CRITICAL INCOME &amp; OCCUPATION RISK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3125"/>
            <a:ext cx="3492549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43125"/>
            <a:ext cx="3492549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43125"/>
            <a:ext cx="3492549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5336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904875" y="3228975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MATERNITY LEAVE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904875" y="3695700"/>
            <a:ext cx="282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40%</a:t>
            </a:r>
            <a:endParaRPr sz="4800"/>
          </a:p>
        </p:txBody>
      </p:sp>
      <p:sp>
        <p:nvSpPr>
          <p:cNvPr id="299" name="Google Shape;299;p26"/>
          <p:cNvSpPr txBox="1"/>
          <p:nvPr/>
        </p:nvSpPr>
        <p:spPr>
          <a:xfrm>
            <a:off x="904875" y="4457700"/>
            <a:ext cx="28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 single highest risk factor in income classification.</a:t>
            </a:r>
            <a:endParaRPr/>
          </a:p>
        </p:txBody>
      </p:sp>
      <p:pic>
        <p:nvPicPr>
          <p:cNvPr id="300" name="Google Shape;30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25336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4683174" y="3228975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UNEMPLOYED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683174" y="3695700"/>
            <a:ext cx="282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36%</a:t>
            </a:r>
            <a:endParaRPr sz="4800"/>
          </a:p>
        </p:txBody>
      </p:sp>
      <p:sp>
        <p:nvSpPr>
          <p:cNvPr id="303" name="Google Shape;303;p26"/>
          <p:cNvSpPr txBox="1"/>
          <p:nvPr/>
        </p:nvSpPr>
        <p:spPr>
          <a:xfrm>
            <a:off x="4683174" y="4457700"/>
            <a:ext cx="28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Critical danger zone requiring maximum focus.</a:t>
            </a:r>
            <a:endParaRPr/>
          </a:p>
        </p:txBody>
      </p:sp>
      <p:pic>
        <p:nvPicPr>
          <p:cNvPr id="304" name="Google Shape;304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5336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8461474" y="3228975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LOW-SKILL LABOR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8461474" y="3695700"/>
            <a:ext cx="282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17%</a:t>
            </a:r>
            <a:endParaRPr sz="4800"/>
          </a:p>
        </p:txBody>
      </p:sp>
      <p:sp>
        <p:nvSpPr>
          <p:cNvPr id="307" name="Google Shape;307;p26"/>
          <p:cNvSpPr txBox="1"/>
          <p:nvPr/>
        </p:nvSpPr>
        <p:spPr>
          <a:xfrm>
            <a:off x="8461474" y="4457700"/>
            <a:ext cx="28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Significant default elevation compared to baseline.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CRITICAL INCOME &amp; OCCUPATION RISK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09987"/>
            <a:ext cx="523875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571500" y="23479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SAFETY CLUSTERS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571500" y="28146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Higher cognitive and technical skilled roles demonstrate resilience and extremely low risk profiles (3% - 5%).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857250" y="399573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Managers &amp; Accountants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857250" y="430053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IT &amp; High Skill Tech Staff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857250" y="460533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Pensioners</a:t>
            </a:r>
            <a:endParaRPr/>
          </a:p>
        </p:txBody>
      </p:sp>
      <p:pic>
        <p:nvPicPr>
          <p:cNvPr id="322" name="Google Shape;32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057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3624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6672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SKILL PROFESSIONAL STABILITY</a:t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57325" y="1995925"/>
            <a:ext cx="5783200" cy="3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09987"/>
            <a:ext cx="523875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571500" y="2814637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Higher cognitive and technical skilled roles demonstrate resilience and extremely low riskprofiles (3% - 5%).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857250" y="3995737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Managers &amp; Accountants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857250" y="4300537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&amp; High Skill Tech Staff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857250" y="4605337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Pensioners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9" name="Google Shape;33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057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3624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6672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SKILL PROFESSIONAL STABILITY</a:t>
            </a:r>
            <a:endParaRPr/>
          </a:p>
        </p:txBody>
      </p:sp>
      <p:sp>
        <p:nvSpPr>
          <p:cNvPr id="343" name="Google Shape;343;p28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4625" y="1253412"/>
            <a:ext cx="5944175" cy="532863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571500" y="2347912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SAFETY CLUSTERS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571500" y="20621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Categories exceeding 10% target ratio threshold:</a:t>
            </a:r>
            <a:endParaRPr/>
          </a:p>
        </p:txBody>
      </p:sp>
      <p:graphicFrame>
        <p:nvGraphicFramePr>
          <p:cNvPr id="353" name="Google Shape;353;p29"/>
          <p:cNvGraphicFramePr/>
          <p:nvPr/>
        </p:nvGraphicFramePr>
        <p:xfrm>
          <a:off x="571500" y="2557462"/>
          <a:ext cx="5102850" cy="2924125"/>
        </p:xfrm>
        <a:graphic>
          <a:graphicData uri="http://schemas.openxmlformats.org/drawingml/2006/table">
            <a:tbl>
              <a:tblPr firstRow="1" bandRow="1">
                <a:noFill/>
                <a:tableStyleId>{7A68B8A5-C0C6-47C9-866C-686796FCC816}</a:tableStyleId>
              </a:tblPr>
              <a:tblGrid>
                <a:gridCol w="279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Organization 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 (Type 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HIGH Risk</a:t>
                      </a:r>
                      <a:endParaRPr sz="150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Industry (Types 8 &amp; 13)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MORE Review Required</a:t>
                      </a:r>
                      <a:endParaRPr sz="150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Restaurant / Construction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Review </a:t>
                      </a:r>
                      <a:r>
                        <a:rPr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Cleaning 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Verification </a:t>
                      </a:r>
                      <a:r>
                        <a:rPr lang="en-US" sz="1500">
                          <a:latin typeface="Lato"/>
                          <a:ea typeface="Lato"/>
                          <a:cs typeface="Lato"/>
                          <a:sym typeface="Lato"/>
                        </a:rPr>
                        <a:t>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4" name="Google Shape;354;p29"/>
          <p:cNvSpPr/>
          <p:nvPr/>
        </p:nvSpPr>
        <p:spPr>
          <a:xfrm>
            <a:off x="571500" y="3724275"/>
            <a:ext cx="421287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4784377" y="3724275"/>
            <a:ext cx="33544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8138814" y="3724275"/>
            <a:ext cx="348168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571500" y="4305300"/>
            <a:ext cx="421287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4784377" y="4305300"/>
            <a:ext cx="33544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8138814" y="4305300"/>
            <a:ext cx="348168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571500" y="4886325"/>
            <a:ext cx="421287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4784377" y="4886325"/>
            <a:ext cx="33544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8138814" y="4886325"/>
            <a:ext cx="348168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71500" y="5467350"/>
            <a:ext cx="421287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4784377" y="5467350"/>
            <a:ext cx="33544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8138814" y="5467350"/>
            <a:ext cx="348168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ORGANIZATION SECTOR HOTSPOTS</a:t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250" y="1760950"/>
            <a:ext cx="6246150" cy="43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9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52387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90775"/>
            <a:ext cx="5238750" cy="22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0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904875" y="2881312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HOUSING RISK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904875" y="3348037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Renters 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and those living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with parents 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show an elevated risk of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12%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904875" y="4148137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12%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6715125" y="2881300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HOUSING MODE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6715125" y="3657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Specific Housing: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10% Risk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6715125" y="41052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Terraced House: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8.5% Risk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HOUSING TYPE &amp; LIVING STATUS</a:t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82751"/>
            <a:ext cx="5238750" cy="440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82757"/>
            <a:ext cx="5238750" cy="440784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 txBox="1"/>
          <p:nvPr/>
        </p:nvSpPr>
        <p:spPr>
          <a:xfrm>
            <a:off x="904875" y="2079637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HOUSING RISK</a:t>
            </a:r>
            <a:endParaRPr/>
          </a:p>
        </p:txBody>
      </p:sp>
      <p:sp>
        <p:nvSpPr>
          <p:cNvPr id="394" name="Google Shape;394;p31"/>
          <p:cNvSpPr txBox="1"/>
          <p:nvPr/>
        </p:nvSpPr>
        <p:spPr>
          <a:xfrm>
            <a:off x="6715125" y="2079625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HOUSING MODE</a:t>
            </a:r>
            <a:endParaRPr/>
          </a:p>
        </p:txBody>
      </p:sp>
      <p:sp>
        <p:nvSpPr>
          <p:cNvPr id="395" name="Google Shape;395;p31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HOUSING TYPE &amp; LIVING STATUS</a:t>
            </a:r>
            <a:endParaRPr/>
          </a:p>
        </p:txBody>
      </p:sp>
      <p:sp>
        <p:nvSpPr>
          <p:cNvPr id="396" name="Google Shape;396;p31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2950" y="2580950"/>
            <a:ext cx="4909925" cy="281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08900" y="2681300"/>
            <a:ext cx="4909925" cy="24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6050"/>
            <a:ext cx="52387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2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571500" y="2686050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THE KNOWLEDGE STABILITY</a:t>
            </a:r>
            <a:endParaRPr/>
          </a:p>
        </p:txBody>
      </p:sp>
      <p:sp>
        <p:nvSpPr>
          <p:cNvPr id="407" name="Google Shape;407;p32"/>
          <p:cNvSpPr txBox="1"/>
          <p:nvPr/>
        </p:nvSpPr>
        <p:spPr>
          <a:xfrm>
            <a:off x="571500" y="315277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General Insight: The higher the client's level of education, the lower the risk.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EDUCATION AS A RISK BUFFER</a:t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0" y="2686038"/>
            <a:ext cx="6223775" cy="28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EDUCATION AS A RISK BUFFER</a:t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125" y="1402000"/>
            <a:ext cx="9705974" cy="44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4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6376987" y="3242369"/>
            <a:ext cx="381000" cy="381000"/>
          </a:xfrm>
          <a:prstGeom prst="roundRect">
            <a:avLst>
              <a:gd name="adj" fmla="val 12500"/>
            </a:avLst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highlight>
                <a:srgbClr val="DD7E6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6948487" y="3189089"/>
            <a:ext cx="2085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Male: 10% Risk</a:t>
            </a:r>
            <a:endParaRPr/>
          </a:p>
        </p:txBody>
      </p:sp>
      <p:sp>
        <p:nvSpPr>
          <p:cNvPr id="428" name="Google Shape;428;p34"/>
          <p:cNvSpPr/>
          <p:nvPr/>
        </p:nvSpPr>
        <p:spPr>
          <a:xfrm>
            <a:off x="6376987" y="3920430"/>
            <a:ext cx="381000" cy="381000"/>
          </a:xfrm>
          <a:prstGeom prst="roundRect">
            <a:avLst>
              <a:gd name="adj" fmla="val 12500"/>
            </a:avLst>
          </a:prstGeom>
          <a:solidFill>
            <a:srgbClr val="001E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 txBox="1"/>
          <p:nvPr/>
        </p:nvSpPr>
        <p:spPr>
          <a:xfrm>
            <a:off x="6948487" y="3867150"/>
            <a:ext cx="22002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Female: 7% Risk</a:t>
            </a:r>
            <a:endParaRPr/>
          </a:p>
        </p:txBody>
      </p:sp>
      <p:sp>
        <p:nvSpPr>
          <p:cNvPr id="430" name="Google Shape;430;p34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GENDER-BASED RISK DISPARITY</a:t>
            </a:r>
            <a:endParaRPr/>
          </a:p>
        </p:txBody>
      </p:sp>
      <p:sp>
        <p:nvSpPr>
          <p:cNvPr id="431" name="Google Shape;431;p34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0" y="2620488"/>
            <a:ext cx="4898600" cy="204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4"/>
          <p:cNvSpPr/>
          <p:nvPr/>
        </p:nvSpPr>
        <p:spPr>
          <a:xfrm>
            <a:off x="3075013" y="3472118"/>
            <a:ext cx="1548000" cy="882600"/>
          </a:xfrm>
          <a:prstGeom prst="roundRect">
            <a:avLst>
              <a:gd name="adj" fmla="val 12500"/>
            </a:avLst>
          </a:prstGeom>
          <a:solidFill>
            <a:srgbClr val="001E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73747"/>
            <a:ext cx="3492549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073747"/>
            <a:ext cx="3492549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073747"/>
            <a:ext cx="3492549" cy="214878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5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571500" y="2321272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TOP 3 CATEGORIES IMPACTING TARGET</a:t>
            </a:r>
            <a:endParaRPr/>
          </a:p>
        </p:txBody>
      </p:sp>
      <p:pic>
        <p:nvPicPr>
          <p:cNvPr id="444" name="Google Shape;444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4642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5"/>
          <p:cNvSpPr txBox="1"/>
          <p:nvPr/>
        </p:nvSpPr>
        <p:spPr>
          <a:xfrm>
            <a:off x="904875" y="4159597"/>
            <a:ext cx="296708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Civil Marriage</a:t>
            </a:r>
            <a:endParaRPr/>
          </a:p>
        </p:txBody>
      </p:sp>
      <p:sp>
        <p:nvSpPr>
          <p:cNvPr id="446" name="Google Shape;446;p35"/>
          <p:cNvSpPr txBox="1"/>
          <p:nvPr/>
        </p:nvSpPr>
        <p:spPr>
          <a:xfrm>
            <a:off x="904875" y="4340572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9.94%</a:t>
            </a:r>
            <a:endParaRPr/>
          </a:p>
        </p:txBody>
      </p:sp>
      <p:pic>
        <p:nvPicPr>
          <p:cNvPr id="447" name="Google Shape;447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3464272"/>
            <a:ext cx="285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 txBox="1"/>
          <p:nvPr/>
        </p:nvSpPr>
        <p:spPr>
          <a:xfrm>
            <a:off x="4683174" y="4159597"/>
            <a:ext cx="296708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Single / Unmarried</a:t>
            </a:r>
            <a:endParaRPr/>
          </a:p>
        </p:txBody>
      </p:sp>
      <p:sp>
        <p:nvSpPr>
          <p:cNvPr id="449" name="Google Shape;449;p35"/>
          <p:cNvSpPr txBox="1"/>
          <p:nvPr/>
        </p:nvSpPr>
        <p:spPr>
          <a:xfrm>
            <a:off x="4683174" y="4340572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9.81%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8461474" y="4159597"/>
            <a:ext cx="2967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Separated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8461474" y="4340572"/>
            <a:ext cx="2825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8.19%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FAMILY STATUS STABILITY TRENDS</a:t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5849" y="3464272"/>
            <a:ext cx="285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73999" y="3464272"/>
            <a:ext cx="285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09466" y="2013899"/>
            <a:ext cx="2349924" cy="938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8" y="1638450"/>
            <a:ext cx="1333486" cy="820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4089" y="1638450"/>
            <a:ext cx="1333487" cy="820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56680" y="1638450"/>
            <a:ext cx="1333487" cy="82042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6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571498" y="1351148"/>
            <a:ext cx="44295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2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TOP 3 CATEGORIES IMPACTING TARGET</a:t>
            </a:r>
            <a:endParaRPr sz="535"/>
          </a:p>
        </p:txBody>
      </p:sp>
      <p:pic>
        <p:nvPicPr>
          <p:cNvPr id="467" name="Google Shape;467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784" y="1787556"/>
            <a:ext cx="174563" cy="1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6"/>
          <p:cNvSpPr txBox="1"/>
          <p:nvPr/>
        </p:nvSpPr>
        <p:spPr>
          <a:xfrm>
            <a:off x="698784" y="2053037"/>
            <a:ext cx="1132800" cy="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8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Civil Marriage</a:t>
            </a:r>
            <a:endParaRPr sz="535"/>
          </a:p>
        </p:txBody>
      </p:sp>
      <p:sp>
        <p:nvSpPr>
          <p:cNvPr id="469" name="Google Shape;469;p36"/>
          <p:cNvSpPr txBox="1"/>
          <p:nvPr/>
        </p:nvSpPr>
        <p:spPr>
          <a:xfrm>
            <a:off x="698784" y="2122135"/>
            <a:ext cx="10788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1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9.94%</a:t>
            </a:r>
            <a:endParaRPr sz="535"/>
          </a:p>
        </p:txBody>
      </p:sp>
      <p:pic>
        <p:nvPicPr>
          <p:cNvPr id="470" name="Google Shape;470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41375" y="1787556"/>
            <a:ext cx="109102" cy="1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6"/>
          <p:cNvSpPr txBox="1"/>
          <p:nvPr/>
        </p:nvSpPr>
        <p:spPr>
          <a:xfrm>
            <a:off x="2141375" y="2053037"/>
            <a:ext cx="1132800" cy="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8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Single / Unmarried</a:t>
            </a:r>
            <a:endParaRPr sz="535"/>
          </a:p>
        </p:txBody>
      </p:sp>
      <p:sp>
        <p:nvSpPr>
          <p:cNvPr id="472" name="Google Shape;472;p36"/>
          <p:cNvSpPr txBox="1"/>
          <p:nvPr/>
        </p:nvSpPr>
        <p:spPr>
          <a:xfrm>
            <a:off x="2141375" y="2122135"/>
            <a:ext cx="10788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1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9.81%</a:t>
            </a:r>
            <a:endParaRPr sz="535"/>
          </a:p>
        </p:txBody>
      </p:sp>
      <p:sp>
        <p:nvSpPr>
          <p:cNvPr id="473" name="Google Shape;473;p36"/>
          <p:cNvSpPr txBox="1"/>
          <p:nvPr/>
        </p:nvSpPr>
        <p:spPr>
          <a:xfrm>
            <a:off x="3583966" y="2053037"/>
            <a:ext cx="1132800" cy="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8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Separated</a:t>
            </a:r>
            <a:endParaRPr sz="535"/>
          </a:p>
        </p:txBody>
      </p:sp>
      <p:sp>
        <p:nvSpPr>
          <p:cNvPr id="474" name="Google Shape;474;p36"/>
          <p:cNvSpPr txBox="1"/>
          <p:nvPr/>
        </p:nvSpPr>
        <p:spPr>
          <a:xfrm>
            <a:off x="3583966" y="2122135"/>
            <a:ext cx="10788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1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8.19%</a:t>
            </a:r>
            <a:endParaRPr sz="535"/>
          </a:p>
        </p:txBody>
      </p:sp>
      <p:sp>
        <p:nvSpPr>
          <p:cNvPr id="475" name="Google Shape;475;p36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FAMILY STATUS STABILITY TRENDS</a:t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5091" y="1787556"/>
            <a:ext cx="109102" cy="17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17834" y="1787556"/>
            <a:ext cx="109102" cy="17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67888" y="2790374"/>
            <a:ext cx="9067876" cy="362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4275"/>
            <a:ext cx="52387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 txBox="1"/>
          <p:nvPr/>
        </p:nvSpPr>
        <p:spPr>
          <a:xfrm>
            <a:off x="571500" y="2557450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CONTRACT INSIGHTS</a:t>
            </a:r>
            <a:endParaRPr/>
          </a:p>
        </p:txBody>
      </p:sp>
      <p:sp>
        <p:nvSpPr>
          <p:cNvPr id="488" name="Google Shape;488;p37"/>
          <p:cNvSpPr txBox="1"/>
          <p:nvPr/>
        </p:nvSpPr>
        <p:spPr>
          <a:xfrm>
            <a:off x="571500" y="302417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Cash Loans (8.35%)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carry significantly higher risk than Revolving Loans (5.48%).</a:t>
            </a:r>
            <a:endParaRPr/>
          </a:p>
        </p:txBody>
      </p:sp>
      <p:sp>
        <p:nvSpPr>
          <p:cNvPr id="489" name="Google Shape;489;p37"/>
          <p:cNvSpPr txBox="1"/>
          <p:nvPr/>
        </p:nvSpPr>
        <p:spPr>
          <a:xfrm>
            <a:off x="6381750" y="25574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SUITE INSIGHTS</a:t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>
            <a:off x="6381750" y="3024187"/>
            <a:ext cx="5238750" cy="590550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7"/>
          <p:cNvSpPr txBox="1"/>
          <p:nvPr/>
        </p:nvSpPr>
        <p:spPr>
          <a:xfrm>
            <a:off x="6524625" y="31670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Other_B: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9.83%</a:t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6381750" y="3709987"/>
            <a:ext cx="5238750" cy="590550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7"/>
          <p:cNvSpPr txBox="1"/>
          <p:nvPr/>
        </p:nvSpPr>
        <p:spPr>
          <a:xfrm>
            <a:off x="6524625" y="38528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Other_A: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8.78%</a:t>
            </a:r>
            <a:endParaRPr/>
          </a:p>
        </p:txBody>
      </p:sp>
      <p:sp>
        <p:nvSpPr>
          <p:cNvPr id="494" name="Google Shape;494;p37"/>
          <p:cNvSpPr/>
          <p:nvPr/>
        </p:nvSpPr>
        <p:spPr>
          <a:xfrm>
            <a:off x="6381750" y="4395787"/>
            <a:ext cx="5238750" cy="590550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7"/>
          <p:cNvSpPr txBox="1"/>
          <p:nvPr/>
        </p:nvSpPr>
        <p:spPr>
          <a:xfrm>
            <a:off x="6524625" y="45386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Group of People: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8.49%</a:t>
            </a:r>
            <a:endParaRPr/>
          </a:p>
        </p:txBody>
      </p:sp>
      <p:sp>
        <p:nvSpPr>
          <p:cNvPr id="496" name="Google Shape;496;p37"/>
          <p:cNvSpPr txBox="1"/>
          <p:nvPr/>
        </p:nvSpPr>
        <p:spPr>
          <a:xfrm>
            <a:off x="809625" y="571500"/>
            <a:ext cx="113514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CONTRACT &amp; SUITE INFLUENCE</a:t>
            </a:r>
            <a:endParaRPr/>
          </a:p>
        </p:txBody>
      </p:sp>
      <p:sp>
        <p:nvSpPr>
          <p:cNvPr id="497" name="Google Shape;497;p37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8" name="Google Shape;49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9700" y="2355050"/>
            <a:ext cx="787414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20526" y="2372050"/>
            <a:ext cx="1380667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2125" y="-1725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1400" y="1848465"/>
            <a:ext cx="2549231" cy="273463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8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8"/>
          <p:cNvSpPr txBox="1"/>
          <p:nvPr/>
        </p:nvSpPr>
        <p:spPr>
          <a:xfrm>
            <a:off x="6431400" y="1232009"/>
            <a:ext cx="2676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2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CONTRACT INSIGHTS</a:t>
            </a:r>
            <a:endParaRPr sz="681"/>
          </a:p>
        </p:txBody>
      </p:sp>
      <p:sp>
        <p:nvSpPr>
          <p:cNvPr id="508" name="Google Shape;508;p38"/>
          <p:cNvSpPr txBox="1"/>
          <p:nvPr/>
        </p:nvSpPr>
        <p:spPr>
          <a:xfrm>
            <a:off x="6431400" y="1459125"/>
            <a:ext cx="2549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Cash Loans (8.35%)</a:t>
            </a:r>
            <a:r>
              <a:rPr lang="en-US" sz="73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carry significantly higher risk than Revolving Loans (5.48%).</a:t>
            </a:r>
            <a:endParaRPr sz="681"/>
          </a:p>
        </p:txBody>
      </p:sp>
      <p:sp>
        <p:nvSpPr>
          <p:cNvPr id="509" name="Google Shape;509;p38"/>
          <p:cNvSpPr txBox="1"/>
          <p:nvPr/>
        </p:nvSpPr>
        <p:spPr>
          <a:xfrm>
            <a:off x="9258728" y="1086006"/>
            <a:ext cx="2676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2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SUITE INSIGHTS</a:t>
            </a:r>
            <a:endParaRPr sz="681"/>
          </a:p>
        </p:txBody>
      </p:sp>
      <p:sp>
        <p:nvSpPr>
          <p:cNvPr id="510" name="Google Shape;510;p38"/>
          <p:cNvSpPr/>
          <p:nvPr/>
        </p:nvSpPr>
        <p:spPr>
          <a:xfrm>
            <a:off x="9258728" y="1313122"/>
            <a:ext cx="2549400" cy="287400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4500" tIns="22250" rIns="44500" bIns="22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8"/>
          <p:cNvSpPr txBox="1"/>
          <p:nvPr/>
        </p:nvSpPr>
        <p:spPr>
          <a:xfrm>
            <a:off x="9328253" y="1382647"/>
            <a:ext cx="24102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Other_B: </a:t>
            </a:r>
            <a:r>
              <a:rPr lang="en-US" sz="73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9.83%</a:t>
            </a:r>
            <a:endParaRPr sz="681"/>
          </a:p>
        </p:txBody>
      </p:sp>
      <p:sp>
        <p:nvSpPr>
          <p:cNvPr id="512" name="Google Shape;512;p38"/>
          <p:cNvSpPr/>
          <p:nvPr/>
        </p:nvSpPr>
        <p:spPr>
          <a:xfrm>
            <a:off x="9258728" y="1646842"/>
            <a:ext cx="2549400" cy="287400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4500" tIns="22250" rIns="44500" bIns="22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8"/>
          <p:cNvSpPr txBox="1"/>
          <p:nvPr/>
        </p:nvSpPr>
        <p:spPr>
          <a:xfrm>
            <a:off x="9328253" y="1716367"/>
            <a:ext cx="24102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Other_A: </a:t>
            </a:r>
            <a:r>
              <a:rPr lang="en-US" sz="73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8.78%</a:t>
            </a:r>
            <a:endParaRPr sz="681"/>
          </a:p>
        </p:txBody>
      </p:sp>
      <p:sp>
        <p:nvSpPr>
          <p:cNvPr id="514" name="Google Shape;514;p38"/>
          <p:cNvSpPr/>
          <p:nvPr/>
        </p:nvSpPr>
        <p:spPr>
          <a:xfrm>
            <a:off x="9258728" y="1980563"/>
            <a:ext cx="2549400" cy="287400"/>
          </a:xfrm>
          <a:prstGeom prst="roundRect">
            <a:avLst>
              <a:gd name="adj" fmla="val 12903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4500" tIns="22250" rIns="44500" bIns="22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8"/>
          <p:cNvSpPr txBox="1"/>
          <p:nvPr/>
        </p:nvSpPr>
        <p:spPr>
          <a:xfrm>
            <a:off x="9328253" y="2050088"/>
            <a:ext cx="24102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Group of People: </a:t>
            </a:r>
            <a:r>
              <a:rPr lang="en-US" sz="73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8.49%</a:t>
            </a:r>
            <a:endParaRPr sz="681"/>
          </a:p>
        </p:txBody>
      </p:sp>
      <p:sp>
        <p:nvSpPr>
          <p:cNvPr id="516" name="Google Shape;516;p38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CONTRACT &amp; SUITE INFLUENCE</a:t>
            </a:r>
            <a:endParaRPr/>
          </a:p>
        </p:txBody>
      </p:sp>
      <p:sp>
        <p:nvSpPr>
          <p:cNvPr id="517" name="Google Shape;517;p38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734" y="2506450"/>
            <a:ext cx="4101240" cy="307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8"/>
          <p:cNvPicPr preferRelativeResize="0"/>
          <p:nvPr/>
        </p:nvPicPr>
        <p:blipFill rotWithShape="1">
          <a:blip r:embed="rId6">
            <a:alphaModFix/>
          </a:blip>
          <a:srcRect b="3204"/>
          <a:stretch/>
        </p:blipFill>
        <p:spPr>
          <a:xfrm>
            <a:off x="5755900" y="2573300"/>
            <a:ext cx="5826624" cy="28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4082"/>
            <a:ext cx="11049000" cy="413563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7" name="Google Shape;52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227558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9"/>
          <p:cNvSpPr txBox="1"/>
          <p:nvPr/>
        </p:nvSpPr>
        <p:spPr>
          <a:xfrm>
            <a:off x="895350" y="3323332"/>
            <a:ext cx="10401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SECURITY INDICATORS</a:t>
            </a:r>
            <a:endParaRPr/>
          </a:p>
        </p:txBody>
      </p:sp>
      <p:sp>
        <p:nvSpPr>
          <p:cNvPr id="529" name="Google Shape;529;p39"/>
          <p:cNvSpPr txBox="1"/>
          <p:nvPr/>
        </p:nvSpPr>
        <p:spPr>
          <a:xfrm>
            <a:off x="1143000" y="3885307"/>
            <a:ext cx="9906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DDDDDD"/>
                </a:solidFill>
                <a:latin typeface="Lato"/>
                <a:ea typeface="Lato"/>
                <a:cs typeface="Lato"/>
                <a:sym typeface="Lato"/>
              </a:rPr>
              <a:t>"Generally, whenever a person owns property or a car, this is a superior indicator of financial security."</a:t>
            </a:r>
            <a:endParaRPr/>
          </a:p>
        </p:txBody>
      </p:sp>
      <p:sp>
        <p:nvSpPr>
          <p:cNvPr id="530" name="Google Shape;530;p39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ASSET OWNERSHIP (FLAG_OWN)</a:t>
            </a:r>
            <a:endParaRPr/>
          </a:p>
        </p:txBody>
      </p:sp>
      <p:sp>
        <p:nvSpPr>
          <p:cNvPr id="531" name="Google Shape;531;p39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0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1025" y="1992025"/>
            <a:ext cx="1564850" cy="15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0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ASSET OWNERSHIP (FLAG_OWN)</a:t>
            </a:r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1" name="Google Shape;541;p40"/>
          <p:cNvPicPr preferRelativeResize="0"/>
          <p:nvPr/>
        </p:nvPicPr>
        <p:blipFill rotWithShape="1">
          <a:blip r:embed="rId5">
            <a:alphaModFix/>
          </a:blip>
          <a:srcRect r="29359"/>
          <a:stretch/>
        </p:blipFill>
        <p:spPr>
          <a:xfrm>
            <a:off x="6259075" y="4042824"/>
            <a:ext cx="4724074" cy="230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0"/>
          <p:cNvPicPr preferRelativeResize="0"/>
          <p:nvPr/>
        </p:nvPicPr>
        <p:blipFill rotWithShape="1">
          <a:blip r:embed="rId6">
            <a:alphaModFix/>
          </a:blip>
          <a:srcRect r="31964"/>
          <a:stretch/>
        </p:blipFill>
        <p:spPr>
          <a:xfrm>
            <a:off x="1607074" y="4000228"/>
            <a:ext cx="4578954" cy="230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0"/>
          <p:cNvPicPr preferRelativeResize="0"/>
          <p:nvPr/>
        </p:nvPicPr>
        <p:blipFill rotWithShape="1">
          <a:blip r:embed="rId7">
            <a:alphaModFix/>
          </a:blip>
          <a:srcRect r="32782"/>
          <a:stretch/>
        </p:blipFill>
        <p:spPr>
          <a:xfrm>
            <a:off x="6381484" y="1705948"/>
            <a:ext cx="4323384" cy="221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0"/>
          <p:cNvPicPr preferRelativeResize="0"/>
          <p:nvPr/>
        </p:nvPicPr>
        <p:blipFill rotWithShape="1">
          <a:blip r:embed="rId5">
            <a:alphaModFix/>
          </a:blip>
          <a:srcRect l="93801" b="56162"/>
          <a:stretch/>
        </p:blipFill>
        <p:spPr>
          <a:xfrm>
            <a:off x="10983150" y="1607925"/>
            <a:ext cx="813725" cy="19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" name="Google Shape;551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4527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1"/>
          <p:cNvSpPr txBox="1"/>
          <p:nvPr/>
        </p:nvSpPr>
        <p:spPr>
          <a:xfrm>
            <a:off x="295275" y="3508027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 2: NUMERICAL INSIGHTS</a:t>
            </a:r>
            <a:endParaRPr/>
          </a:p>
        </p:txBody>
      </p:sp>
      <p:sp>
        <p:nvSpPr>
          <p:cNvPr id="553" name="Google Shape;553;p41"/>
          <p:cNvSpPr txBox="1"/>
          <p:nvPr/>
        </p:nvSpPr>
        <p:spPr>
          <a:xfrm>
            <a:off x="571500" y="420335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Analyzing Continuous &amp; Quantitative Metrics</a:t>
            </a:r>
            <a:endParaRPr/>
          </a:p>
        </p:txBody>
      </p:sp>
      <p:sp>
        <p:nvSpPr>
          <p:cNvPr id="554" name="Google Shape;554;p41"/>
          <p:cNvSpPr/>
          <p:nvPr/>
        </p:nvSpPr>
        <p:spPr>
          <a:xfrm>
            <a:off x="-752400" y="-267652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9563100" y="415872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716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2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2"/>
          <p:cNvSpPr txBox="1"/>
          <p:nvPr/>
        </p:nvSpPr>
        <p:spPr>
          <a:xfrm>
            <a:off x="571500" y="2281237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EXT_SOURCE_1, 2, 3</a:t>
            </a:r>
            <a:endParaRPr/>
          </a:p>
        </p:txBody>
      </p:sp>
      <p:sp>
        <p:nvSpPr>
          <p:cNvPr id="564" name="Google Shape;564;p42"/>
          <p:cNvSpPr txBox="1"/>
          <p:nvPr/>
        </p:nvSpPr>
        <p:spPr>
          <a:xfrm>
            <a:off x="571500" y="2747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These external scores are the dataset's strongest risk predictors.</a:t>
            </a:r>
            <a:endParaRPr/>
          </a:p>
        </p:txBody>
      </p:sp>
      <p:sp>
        <p:nvSpPr>
          <p:cNvPr id="565" name="Google Shape;565;p42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STRONGEST PREDICTORS (EXT)</a:t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81300"/>
            <a:ext cx="523875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3"/>
          <p:cNvSpPr txBox="1"/>
          <p:nvPr/>
        </p:nvSpPr>
        <p:spPr>
          <a:xfrm>
            <a:off x="571500" y="29860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REGION RATING CLIENT</a:t>
            </a:r>
            <a:endParaRPr/>
          </a:p>
        </p:txBody>
      </p:sp>
      <p:sp>
        <p:nvSpPr>
          <p:cNvPr id="575" name="Google Shape;575;p43"/>
          <p:cNvSpPr txBox="1"/>
          <p:nvPr/>
        </p:nvSpPr>
        <p:spPr>
          <a:xfrm>
            <a:off x="571500" y="3452812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Higher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-rated regions are inherently linked to safer clients.</a:t>
            </a:r>
            <a:endParaRPr/>
          </a:p>
        </p:txBody>
      </p:sp>
      <p:sp>
        <p:nvSpPr>
          <p:cNvPr id="576" name="Google Shape;576;p43"/>
          <p:cNvSpPr txBox="1"/>
          <p:nvPr/>
        </p:nvSpPr>
        <p:spPr>
          <a:xfrm>
            <a:off x="6715125" y="3171825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POPULATION RELATIVE</a:t>
            </a:r>
            <a:endParaRPr/>
          </a:p>
        </p:txBody>
      </p:sp>
      <p:sp>
        <p:nvSpPr>
          <p:cNvPr id="577" name="Google Shape;577;p43"/>
          <p:cNvSpPr txBox="1"/>
          <p:nvPr/>
        </p:nvSpPr>
        <p:spPr>
          <a:xfrm>
            <a:off x="6715125" y="36385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Low Pop (0.01-1%):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9.6% Risk</a:t>
            </a:r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6715125" y="39433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 Pop (1.5-3%):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4.5% Risk</a:t>
            </a:r>
            <a:endParaRPr/>
          </a:p>
        </p:txBody>
      </p:sp>
      <p:sp>
        <p:nvSpPr>
          <p:cNvPr id="579" name="Google Shape;579;p43"/>
          <p:cNvSpPr txBox="1"/>
          <p:nvPr/>
        </p:nvSpPr>
        <p:spPr>
          <a:xfrm>
            <a:off x="457200" y="39481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0" name="Google Shape;580;p43"/>
          <p:cNvSpPr txBox="1"/>
          <p:nvPr/>
        </p:nvSpPr>
        <p:spPr>
          <a:xfrm>
            <a:off x="571500" y="39481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 Rating (2.0-3.0):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11.1% Risk</a:t>
            </a:r>
            <a:endParaRPr/>
          </a:p>
        </p:txBody>
      </p:sp>
      <p:sp>
        <p:nvSpPr>
          <p:cNvPr id="581" name="Google Shape;581;p43"/>
          <p:cNvSpPr txBox="1"/>
          <p:nvPr/>
        </p:nvSpPr>
        <p:spPr>
          <a:xfrm>
            <a:off x="457200" y="4252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2" name="Google Shape;582;p43"/>
          <p:cNvSpPr txBox="1"/>
          <p:nvPr/>
        </p:nvSpPr>
        <p:spPr>
          <a:xfrm>
            <a:off x="571500" y="42529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Low Rating (1.0-2.0):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7.51% Risk</a:t>
            </a:r>
            <a:endParaRPr/>
          </a:p>
        </p:txBody>
      </p:sp>
      <p:sp>
        <p:nvSpPr>
          <p:cNvPr id="583" name="Google Shape;583;p43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REGIONAL SAFETY RATINGS</a:t>
            </a:r>
            <a:endParaRPr/>
          </a:p>
        </p:txBody>
      </p:sp>
      <p:sp>
        <p:nvSpPr>
          <p:cNvPr id="584" name="Google Shape;584;p43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4049" y="3826680"/>
            <a:ext cx="1069181" cy="8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0375" y="3826675"/>
            <a:ext cx="1163125" cy="77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3"/>
          <p:cNvSpPr/>
          <p:nvPr/>
        </p:nvSpPr>
        <p:spPr>
          <a:xfrm>
            <a:off x="3782738" y="4801700"/>
            <a:ext cx="10518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4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4"/>
          <p:cNvSpPr txBox="1"/>
          <p:nvPr/>
        </p:nvSpPr>
        <p:spPr>
          <a:xfrm>
            <a:off x="571500" y="1386837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REGION RATING CLIENT</a:t>
            </a:r>
            <a:endParaRPr/>
          </a:p>
        </p:txBody>
      </p:sp>
      <p:sp>
        <p:nvSpPr>
          <p:cNvPr id="595" name="Google Shape;595;p44"/>
          <p:cNvSpPr txBox="1"/>
          <p:nvPr/>
        </p:nvSpPr>
        <p:spPr>
          <a:xfrm>
            <a:off x="6715125" y="1386825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POPULATION RELATIVE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6715125" y="5147550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Low Pop (.01-1%):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9.6% Risk</a:t>
            </a:r>
            <a:endParaRPr/>
          </a:p>
        </p:txBody>
      </p:sp>
      <p:sp>
        <p:nvSpPr>
          <p:cNvPr id="597" name="Google Shape;597;p44"/>
          <p:cNvSpPr txBox="1"/>
          <p:nvPr/>
        </p:nvSpPr>
        <p:spPr>
          <a:xfrm>
            <a:off x="6715125" y="5452350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 Pop (1.5-3%):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4.5% Risk</a:t>
            </a:r>
            <a:endParaRPr/>
          </a:p>
        </p:txBody>
      </p:sp>
      <p:sp>
        <p:nvSpPr>
          <p:cNvPr id="598" name="Google Shape;598;p44"/>
          <p:cNvSpPr txBox="1"/>
          <p:nvPr/>
        </p:nvSpPr>
        <p:spPr>
          <a:xfrm>
            <a:off x="457200" y="39481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99" name="Google Shape;599;p44"/>
          <p:cNvSpPr txBox="1"/>
          <p:nvPr/>
        </p:nvSpPr>
        <p:spPr>
          <a:xfrm>
            <a:off x="571500" y="5147562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 Rating (2.0-3.0):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11.1% Risk</a:t>
            </a:r>
            <a:endParaRPr/>
          </a:p>
        </p:txBody>
      </p:sp>
      <p:sp>
        <p:nvSpPr>
          <p:cNvPr id="600" name="Google Shape;600;p44"/>
          <p:cNvSpPr txBox="1"/>
          <p:nvPr/>
        </p:nvSpPr>
        <p:spPr>
          <a:xfrm>
            <a:off x="457200" y="42529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01" name="Google Shape;601;p44"/>
          <p:cNvSpPr txBox="1"/>
          <p:nvPr/>
        </p:nvSpPr>
        <p:spPr>
          <a:xfrm>
            <a:off x="571500" y="5452362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Low Rating (1.0-2.0):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7.51% Risk</a:t>
            </a:r>
            <a:endParaRPr/>
          </a:p>
        </p:txBody>
      </p:sp>
      <p:sp>
        <p:nvSpPr>
          <p:cNvPr id="602" name="Google Shape;602;p44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REGIONAL SAFETY RATINGS</a:t>
            </a:r>
            <a:endParaRPr/>
          </a:p>
        </p:txBody>
      </p:sp>
      <p:sp>
        <p:nvSpPr>
          <p:cNvPr id="603" name="Google Shape;603;p44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4" name="Google Shape;6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91" y="2079413"/>
            <a:ext cx="3616295" cy="28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7376" y="1929550"/>
            <a:ext cx="4476987" cy="29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4"/>
          <p:cNvSpPr/>
          <p:nvPr/>
        </p:nvSpPr>
        <p:spPr>
          <a:xfrm rot="5400000">
            <a:off x="8821075" y="5396650"/>
            <a:ext cx="10518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8412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38412"/>
            <a:ext cx="538162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5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5"/>
          <p:cNvSpPr txBox="1"/>
          <p:nvPr/>
        </p:nvSpPr>
        <p:spPr>
          <a:xfrm>
            <a:off x="571500" y="47005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Higher annuity ranges (&gt;32K) drop to ~5.8% risk.</a:t>
            </a:r>
            <a:endParaRPr/>
          </a:p>
        </p:txBody>
      </p:sp>
      <p:sp>
        <p:nvSpPr>
          <p:cNvPr id="616" name="Google Shape;616;p45"/>
          <p:cNvSpPr txBox="1"/>
          <p:nvPr/>
        </p:nvSpPr>
        <p:spPr>
          <a:xfrm>
            <a:off x="904875" y="2928937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AMT_CREDIT</a:t>
            </a:r>
            <a:endParaRPr/>
          </a:p>
        </p:txBody>
      </p:sp>
      <p:sp>
        <p:nvSpPr>
          <p:cNvPr id="617" name="Google Shape;617;p45"/>
          <p:cNvSpPr txBox="1"/>
          <p:nvPr/>
        </p:nvSpPr>
        <p:spPr>
          <a:xfrm>
            <a:off x="904875" y="339566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Loans in 300K - 600K range exhibit higher relative risk.</a:t>
            </a:r>
            <a:endParaRPr/>
          </a:p>
        </p:txBody>
      </p:sp>
      <p:sp>
        <p:nvSpPr>
          <p:cNvPr id="618" name="Google Shape;618;p45"/>
          <p:cNvSpPr txBox="1"/>
          <p:nvPr/>
        </p:nvSpPr>
        <p:spPr>
          <a:xfrm>
            <a:off x="904875" y="3700462"/>
            <a:ext cx="47148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~10%</a:t>
            </a:r>
            <a:endParaRPr/>
          </a:p>
        </p:txBody>
      </p:sp>
      <p:sp>
        <p:nvSpPr>
          <p:cNvPr id="619" name="Google Shape;619;p45"/>
          <p:cNvSpPr txBox="1"/>
          <p:nvPr/>
        </p:nvSpPr>
        <p:spPr>
          <a:xfrm>
            <a:off x="6572250" y="2928937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AMT_ANNUITY</a:t>
            </a:r>
            <a:endParaRPr/>
          </a:p>
        </p:txBody>
      </p:sp>
      <p:sp>
        <p:nvSpPr>
          <p:cNvPr id="620" name="Google Shape;620;p45"/>
          <p:cNvSpPr txBox="1"/>
          <p:nvPr/>
        </p:nvSpPr>
        <p:spPr>
          <a:xfrm>
            <a:off x="6572250" y="339566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Risk peaks in the mid-range (25K - 32K).</a:t>
            </a:r>
            <a:endParaRPr/>
          </a:p>
        </p:txBody>
      </p:sp>
      <p:sp>
        <p:nvSpPr>
          <p:cNvPr id="621" name="Google Shape;621;p45"/>
          <p:cNvSpPr txBox="1"/>
          <p:nvPr/>
        </p:nvSpPr>
        <p:spPr>
          <a:xfrm>
            <a:off x="6572250" y="3700462"/>
            <a:ext cx="47148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~10%</a:t>
            </a:r>
            <a:endParaRPr/>
          </a:p>
        </p:txBody>
      </p:sp>
      <p:sp>
        <p:nvSpPr>
          <p:cNvPr id="622" name="Google Shape;622;p45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LOAN SIZE VS REPAYMENT CAPACITY</a:t>
            </a:r>
            <a:endParaRPr/>
          </a:p>
        </p:txBody>
      </p:sp>
      <p:sp>
        <p:nvSpPr>
          <p:cNvPr id="623" name="Google Shape;623;p45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5"/>
          <p:cNvSpPr/>
          <p:nvPr/>
        </p:nvSpPr>
        <p:spPr>
          <a:xfrm rot="-5398039">
            <a:off x="5570098" y="4169362"/>
            <a:ext cx="1051800" cy="114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6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6"/>
          <p:cNvSpPr/>
          <p:nvPr/>
        </p:nvSpPr>
        <p:spPr>
          <a:xfrm>
            <a:off x="571500" y="3524250"/>
            <a:ext cx="1104900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6"/>
          <p:cNvSpPr txBox="1"/>
          <p:nvPr/>
        </p:nvSpPr>
        <p:spPr>
          <a:xfrm>
            <a:off x="571500" y="2952750"/>
            <a:ext cx="49720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High Risk</a:t>
            </a:r>
            <a:endParaRPr/>
          </a:p>
        </p:txBody>
      </p:sp>
      <p:sp>
        <p:nvSpPr>
          <p:cNvPr id="633" name="Google Shape;633;p46"/>
          <p:cNvSpPr/>
          <p:nvPr/>
        </p:nvSpPr>
        <p:spPr>
          <a:xfrm>
            <a:off x="2914650" y="3514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6"/>
          <p:cNvSpPr txBox="1"/>
          <p:nvPr/>
        </p:nvSpPr>
        <p:spPr>
          <a:xfrm>
            <a:off x="447198" y="3990975"/>
            <a:ext cx="522065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&lt; 5 YEARS</a:t>
            </a:r>
            <a:endParaRPr/>
          </a:p>
        </p:txBody>
      </p:sp>
      <p:sp>
        <p:nvSpPr>
          <p:cNvPr id="635" name="Google Shape;635;p46"/>
          <p:cNvSpPr txBox="1"/>
          <p:nvPr/>
        </p:nvSpPr>
        <p:spPr>
          <a:xfrm>
            <a:off x="571500" y="4457700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ID Publish &amp; Registration</a:t>
            </a:r>
            <a:endParaRPr/>
          </a:p>
        </p:txBody>
      </p:sp>
      <p:sp>
        <p:nvSpPr>
          <p:cNvPr id="636" name="Google Shape;636;p46"/>
          <p:cNvSpPr txBox="1"/>
          <p:nvPr/>
        </p:nvSpPr>
        <p:spPr>
          <a:xfrm>
            <a:off x="571500" y="4762500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9.7% - 10% Default</a:t>
            </a:r>
            <a:endParaRPr/>
          </a:p>
        </p:txBody>
      </p:sp>
      <p:sp>
        <p:nvSpPr>
          <p:cNvPr id="637" name="Google Shape;637;p46"/>
          <p:cNvSpPr txBox="1"/>
          <p:nvPr/>
        </p:nvSpPr>
        <p:spPr>
          <a:xfrm>
            <a:off x="6648450" y="2952750"/>
            <a:ext cx="49720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AA00"/>
                </a:solidFill>
                <a:latin typeface="Lato"/>
                <a:ea typeface="Lato"/>
                <a:cs typeface="Lato"/>
                <a:sym typeface="Lato"/>
              </a:rPr>
              <a:t>Low Risk</a:t>
            </a:r>
            <a:endParaRPr/>
          </a:p>
        </p:txBody>
      </p:sp>
      <p:sp>
        <p:nvSpPr>
          <p:cNvPr id="638" name="Google Shape;638;p46"/>
          <p:cNvSpPr/>
          <p:nvPr/>
        </p:nvSpPr>
        <p:spPr>
          <a:xfrm>
            <a:off x="8991600" y="3514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AA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6"/>
          <p:cNvSpPr txBox="1"/>
          <p:nvPr/>
        </p:nvSpPr>
        <p:spPr>
          <a:xfrm>
            <a:off x="6524148" y="3990975"/>
            <a:ext cx="522065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&gt; 20 YEARS</a:t>
            </a:r>
            <a:endParaRPr/>
          </a:p>
        </p:txBody>
      </p:sp>
      <p:sp>
        <p:nvSpPr>
          <p:cNvPr id="640" name="Google Shape;640;p46"/>
          <p:cNvSpPr txBox="1"/>
          <p:nvPr/>
        </p:nvSpPr>
        <p:spPr>
          <a:xfrm>
            <a:off x="6648450" y="4457700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Stable Identity History</a:t>
            </a:r>
            <a:endParaRPr/>
          </a:p>
        </p:txBody>
      </p:sp>
      <p:sp>
        <p:nvSpPr>
          <p:cNvPr id="641" name="Google Shape;641;p46"/>
          <p:cNvSpPr txBox="1"/>
          <p:nvPr/>
        </p:nvSpPr>
        <p:spPr>
          <a:xfrm>
            <a:off x="6648450" y="4762500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5.0% - 5.6% Default</a:t>
            </a:r>
            <a:endParaRPr/>
          </a:p>
        </p:txBody>
      </p:sp>
      <p:sp>
        <p:nvSpPr>
          <p:cNvPr id="642" name="Google Shape;642;p46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 STABILITY MARKERS</a:t>
            </a:r>
            <a:endParaRPr/>
          </a:p>
        </p:txBody>
      </p:sp>
      <p:sp>
        <p:nvSpPr>
          <p:cNvPr id="643" name="Google Shape;643;p46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6"/>
          <p:cNvSpPr txBox="1"/>
          <p:nvPr/>
        </p:nvSpPr>
        <p:spPr>
          <a:xfrm>
            <a:off x="571500" y="551498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Employment Ratio Impact: Low experience indicates a higher risk level across all segments.</a:t>
            </a:r>
            <a:endParaRPr/>
          </a:p>
        </p:txBody>
      </p:sp>
      <p:pic>
        <p:nvPicPr>
          <p:cNvPr id="645" name="Google Shape;64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52275" y="3990978"/>
            <a:ext cx="1527809" cy="120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6"/>
          <p:cNvSpPr/>
          <p:nvPr/>
        </p:nvSpPr>
        <p:spPr>
          <a:xfrm>
            <a:off x="2536000" y="1085849"/>
            <a:ext cx="21075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98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7"/>
          <p:cNvSpPr/>
          <p:nvPr/>
        </p:nvSpPr>
        <p:spPr>
          <a:xfrm rot="5400000">
            <a:off x="-995850" y="3496050"/>
            <a:ext cx="3230100" cy="231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7"/>
          <p:cNvSpPr txBox="1"/>
          <p:nvPr/>
        </p:nvSpPr>
        <p:spPr>
          <a:xfrm>
            <a:off x="5002000" y="1954788"/>
            <a:ext cx="497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60000"/>
                </a:solidFill>
                <a:latin typeface="Lato"/>
                <a:ea typeface="Lato"/>
                <a:cs typeface="Lato"/>
                <a:sym typeface="Lato"/>
              </a:rPr>
              <a:t>High Risk</a:t>
            </a:r>
            <a:endParaRPr/>
          </a:p>
        </p:txBody>
      </p:sp>
      <p:sp>
        <p:nvSpPr>
          <p:cNvPr id="655" name="Google Shape;655;p47"/>
          <p:cNvSpPr/>
          <p:nvPr/>
        </p:nvSpPr>
        <p:spPr>
          <a:xfrm>
            <a:off x="6452500" y="1996500"/>
            <a:ext cx="285900" cy="2859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7"/>
          <p:cNvSpPr txBox="1"/>
          <p:nvPr/>
        </p:nvSpPr>
        <p:spPr>
          <a:xfrm>
            <a:off x="2329000" y="1954800"/>
            <a:ext cx="497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AA00"/>
                </a:solidFill>
                <a:latin typeface="Lato"/>
                <a:ea typeface="Lato"/>
                <a:cs typeface="Lato"/>
                <a:sym typeface="Lato"/>
              </a:rPr>
              <a:t>Low Risk</a:t>
            </a:r>
            <a:endParaRPr/>
          </a:p>
        </p:txBody>
      </p:sp>
      <p:sp>
        <p:nvSpPr>
          <p:cNvPr id="657" name="Google Shape;657;p47"/>
          <p:cNvSpPr/>
          <p:nvPr/>
        </p:nvSpPr>
        <p:spPr>
          <a:xfrm>
            <a:off x="3801450" y="1996500"/>
            <a:ext cx="285900" cy="285900"/>
          </a:xfrm>
          <a:prstGeom prst="roundRect">
            <a:avLst>
              <a:gd name="adj" fmla="val 50000"/>
            </a:avLst>
          </a:prstGeom>
          <a:solidFill>
            <a:srgbClr val="00AA00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7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 STABILITY MARKERS</a:t>
            </a:r>
            <a:endParaRPr/>
          </a:p>
        </p:txBody>
      </p:sp>
      <p:sp>
        <p:nvSpPr>
          <p:cNvPr id="659" name="Google Shape;659;p47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7"/>
          <p:cNvSpPr txBox="1"/>
          <p:nvPr/>
        </p:nvSpPr>
        <p:spPr>
          <a:xfrm>
            <a:off x="571500" y="551498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Employment Ratio Impact: Low experience indicates a higher risk level across all segments.</a:t>
            </a:r>
            <a:endParaRPr/>
          </a:p>
        </p:txBody>
      </p:sp>
      <p:pic>
        <p:nvPicPr>
          <p:cNvPr id="661" name="Google Shape;66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350" y="2396850"/>
            <a:ext cx="3690000" cy="28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7"/>
          <p:cNvSpPr/>
          <p:nvPr/>
        </p:nvSpPr>
        <p:spPr>
          <a:xfrm rot="5400000">
            <a:off x="11244625" y="1813800"/>
            <a:ext cx="10518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48087"/>
            <a:ext cx="52387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48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8"/>
          <p:cNvSpPr txBox="1"/>
          <p:nvPr/>
        </p:nvSpPr>
        <p:spPr>
          <a:xfrm>
            <a:off x="6381750" y="24812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KEY HOUSEHOLD INSIGHTS</a:t>
            </a:r>
            <a:endParaRPr/>
          </a:p>
        </p:txBody>
      </p:sp>
      <p:sp>
        <p:nvSpPr>
          <p:cNvPr id="671" name="Google Shape;671;p48"/>
          <p:cNvSpPr txBox="1"/>
          <p:nvPr/>
        </p:nvSpPr>
        <p:spPr>
          <a:xfrm>
            <a:off x="6267450" y="2947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72" name="Google Shape;672;p48"/>
          <p:cNvSpPr txBox="1"/>
          <p:nvPr/>
        </p:nvSpPr>
        <p:spPr>
          <a:xfrm>
            <a:off x="6381750" y="29479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2-4 Children: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~10% Default risk.</a:t>
            </a:r>
            <a:endParaRPr/>
          </a:p>
        </p:txBody>
      </p:sp>
      <p:sp>
        <p:nvSpPr>
          <p:cNvPr id="673" name="Google Shape;673;p48"/>
          <p:cNvSpPr txBox="1"/>
          <p:nvPr/>
        </p:nvSpPr>
        <p:spPr>
          <a:xfrm>
            <a:off x="6267450" y="3252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74" name="Google Shape;674;p48"/>
          <p:cNvSpPr txBox="1"/>
          <p:nvPr/>
        </p:nvSpPr>
        <p:spPr>
          <a:xfrm>
            <a:off x="6381750" y="32527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0-1 Children: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Safer profiles (&lt;8%).</a:t>
            </a:r>
            <a:endParaRPr/>
          </a:p>
        </p:txBody>
      </p:sp>
      <p:sp>
        <p:nvSpPr>
          <p:cNvPr id="675" name="Google Shape;675;p48"/>
          <p:cNvSpPr txBox="1"/>
          <p:nvPr/>
        </p:nvSpPr>
        <p:spPr>
          <a:xfrm>
            <a:off x="6581775" y="3948112"/>
            <a:ext cx="4838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Correlative Note: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Larger family size (&gt;3) often correlates with decreased average income, spiking risk from 8% to 12%.</a:t>
            </a:r>
            <a:endParaRPr/>
          </a:p>
        </p:txBody>
      </p:sp>
      <p:sp>
        <p:nvSpPr>
          <p:cNvPr id="676" name="Google Shape;676;p48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HOUSEHOLD &amp; FAMILY DYNAMICS</a:t>
            </a:r>
            <a:endParaRPr/>
          </a:p>
        </p:txBody>
      </p:sp>
      <p:sp>
        <p:nvSpPr>
          <p:cNvPr id="677" name="Google Shape;677;p48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1875" y="2255360"/>
            <a:ext cx="4666932" cy="332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8"/>
          <p:cNvSpPr/>
          <p:nvPr/>
        </p:nvSpPr>
        <p:spPr>
          <a:xfrm>
            <a:off x="6381750" y="5253025"/>
            <a:ext cx="10518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7400" y="2188487"/>
            <a:ext cx="52387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9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9"/>
          <p:cNvSpPr txBox="1"/>
          <p:nvPr/>
        </p:nvSpPr>
        <p:spPr>
          <a:xfrm>
            <a:off x="1051875" y="1629037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KEY HOUSEHOLD INSIGHTS</a:t>
            </a:r>
            <a:endParaRPr/>
          </a:p>
        </p:txBody>
      </p:sp>
      <p:sp>
        <p:nvSpPr>
          <p:cNvPr id="688" name="Google Shape;688;p49"/>
          <p:cNvSpPr txBox="1"/>
          <p:nvPr/>
        </p:nvSpPr>
        <p:spPr>
          <a:xfrm>
            <a:off x="6267450" y="29479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89" name="Google Shape;689;p49"/>
          <p:cNvSpPr txBox="1"/>
          <p:nvPr/>
        </p:nvSpPr>
        <p:spPr>
          <a:xfrm>
            <a:off x="6267450" y="32527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90" name="Google Shape;690;p49"/>
          <p:cNvSpPr txBox="1"/>
          <p:nvPr/>
        </p:nvSpPr>
        <p:spPr>
          <a:xfrm>
            <a:off x="1117425" y="2388512"/>
            <a:ext cx="4838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Correlative Note: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Larger family size (&gt;3) often correlates with decreased average income, spiking risk from 8% to 12%.</a:t>
            </a:r>
            <a:endParaRPr/>
          </a:p>
        </p:txBody>
      </p:sp>
      <p:sp>
        <p:nvSpPr>
          <p:cNvPr id="691" name="Google Shape;691;p49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HOUSEHOLD &amp; FAMILY DYNAMICS</a:t>
            </a:r>
            <a:endParaRPr/>
          </a:p>
        </p:txBody>
      </p:sp>
      <p:sp>
        <p:nvSpPr>
          <p:cNvPr id="692" name="Google Shape;692;p49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3" name="Google Shape;693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400" y="3739267"/>
            <a:ext cx="2916491" cy="207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3050" y="2188477"/>
            <a:ext cx="5500800" cy="34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0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0"/>
          <p:cNvSpPr txBox="1"/>
          <p:nvPr/>
        </p:nvSpPr>
        <p:spPr>
          <a:xfrm>
            <a:off x="6381750" y="23288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HOURLY APPLICATION TRENDS</a:t>
            </a:r>
            <a:endParaRPr/>
          </a:p>
        </p:txBody>
      </p:sp>
      <p:sp>
        <p:nvSpPr>
          <p:cNvPr id="702" name="Google Shape;702;p50"/>
          <p:cNvSpPr txBox="1"/>
          <p:nvPr/>
        </p:nvSpPr>
        <p:spPr>
          <a:xfrm>
            <a:off x="6381750" y="27955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Applications initiated in the early hours show a distinct risk profile.</a:t>
            </a:r>
            <a:endParaRPr/>
          </a:p>
        </p:txBody>
      </p:sp>
      <p:sp>
        <p:nvSpPr>
          <p:cNvPr id="703" name="Google Shape;703;p50"/>
          <p:cNvSpPr txBox="1"/>
          <p:nvPr/>
        </p:nvSpPr>
        <p:spPr>
          <a:xfrm>
            <a:off x="6381750" y="49101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Default risk steadily decreases throughout the business day.</a:t>
            </a:r>
            <a:endParaRPr/>
          </a:p>
        </p:txBody>
      </p:sp>
      <p:sp>
        <p:nvSpPr>
          <p:cNvPr id="704" name="Google Shape;704;p50"/>
          <p:cNvSpPr/>
          <p:nvPr/>
        </p:nvSpPr>
        <p:spPr>
          <a:xfrm>
            <a:off x="6381750" y="3690937"/>
            <a:ext cx="5238750" cy="466725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0"/>
          <p:cNvSpPr txBox="1"/>
          <p:nvPr/>
        </p:nvSpPr>
        <p:spPr>
          <a:xfrm>
            <a:off x="6524625" y="3833812"/>
            <a:ext cx="4953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Before 8 AM: </a:t>
            </a: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9.7% Risk</a:t>
            </a:r>
            <a:endParaRPr/>
          </a:p>
        </p:txBody>
      </p:sp>
      <p:sp>
        <p:nvSpPr>
          <p:cNvPr id="706" name="Google Shape;706;p50"/>
          <p:cNvSpPr/>
          <p:nvPr/>
        </p:nvSpPr>
        <p:spPr>
          <a:xfrm>
            <a:off x="6381750" y="4252912"/>
            <a:ext cx="5238750" cy="466725"/>
          </a:xfrm>
          <a:prstGeom prst="rect">
            <a:avLst/>
          </a:prstGeom>
          <a:solidFill>
            <a:srgbClr val="EBFF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0"/>
          <p:cNvSpPr txBox="1"/>
          <p:nvPr/>
        </p:nvSpPr>
        <p:spPr>
          <a:xfrm>
            <a:off x="6524625" y="4395787"/>
            <a:ext cx="4953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Late Hours: </a:t>
            </a: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6.7% Risk</a:t>
            </a:r>
            <a:endParaRPr/>
          </a:p>
        </p:txBody>
      </p:sp>
      <p:sp>
        <p:nvSpPr>
          <p:cNvPr id="708" name="Google Shape;708;p50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TEMPORAL RISK: HOUR OF START</a:t>
            </a:r>
            <a:endParaRPr/>
          </a:p>
        </p:txBody>
      </p:sp>
      <p:sp>
        <p:nvSpPr>
          <p:cNvPr id="709" name="Google Shape;709;p50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0" y="2128325"/>
            <a:ext cx="4953000" cy="335117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0"/>
          <p:cNvSpPr/>
          <p:nvPr/>
        </p:nvSpPr>
        <p:spPr>
          <a:xfrm rot="5400814">
            <a:off x="8941395" y="3672438"/>
            <a:ext cx="6335700" cy="354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6512"/>
            <a:ext cx="3492549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76512"/>
            <a:ext cx="3492549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76512"/>
            <a:ext cx="3492549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5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1"/>
          <p:cNvSpPr txBox="1"/>
          <p:nvPr/>
        </p:nvSpPr>
        <p:spPr>
          <a:xfrm>
            <a:off x="904875" y="2967037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OWN_CAR_AGE</a:t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904875" y="3433762"/>
            <a:ext cx="2825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Old Cars (17+ yrs):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9%+</a:t>
            </a:r>
            <a:endParaRPr/>
          </a:p>
        </p:txBody>
      </p:sp>
      <p:sp>
        <p:nvSpPr>
          <p:cNvPr id="723" name="Google Shape;723;p51"/>
          <p:cNvSpPr txBox="1"/>
          <p:nvPr/>
        </p:nvSpPr>
        <p:spPr>
          <a:xfrm>
            <a:off x="904875" y="3738562"/>
            <a:ext cx="2825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New Cars (2-7 yrs):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5-6%</a:t>
            </a:r>
            <a:endParaRPr/>
          </a:p>
        </p:txBody>
      </p:sp>
      <p:sp>
        <p:nvSpPr>
          <p:cNvPr id="724" name="Google Shape;724;p51"/>
          <p:cNvSpPr txBox="1"/>
          <p:nvPr/>
        </p:nvSpPr>
        <p:spPr>
          <a:xfrm>
            <a:off x="4683174" y="2967037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LIVINGAREA_AVG</a:t>
            </a:r>
            <a:endParaRPr/>
          </a:p>
        </p:txBody>
      </p:sp>
      <p:sp>
        <p:nvSpPr>
          <p:cNvPr id="725" name="Google Shape;725;p51"/>
          <p:cNvSpPr txBox="1"/>
          <p:nvPr/>
        </p:nvSpPr>
        <p:spPr>
          <a:xfrm>
            <a:off x="4683174" y="3433762"/>
            <a:ext cx="2825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Small Area (&lt;0.03):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9.2%</a:t>
            </a:r>
            <a:endParaRPr/>
          </a:p>
        </p:txBody>
      </p:sp>
      <p:sp>
        <p:nvSpPr>
          <p:cNvPr id="726" name="Google Shape;726;p51"/>
          <p:cNvSpPr txBox="1"/>
          <p:nvPr/>
        </p:nvSpPr>
        <p:spPr>
          <a:xfrm>
            <a:off x="4683174" y="3738562"/>
            <a:ext cx="2825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Large Area (0.08+):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5.5%</a:t>
            </a:r>
            <a:endParaRPr/>
          </a:p>
        </p:txBody>
      </p:sp>
      <p:sp>
        <p:nvSpPr>
          <p:cNvPr id="727" name="Google Shape;727;p51"/>
          <p:cNvSpPr txBox="1"/>
          <p:nvPr/>
        </p:nvSpPr>
        <p:spPr>
          <a:xfrm>
            <a:off x="8461474" y="2967037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FLOORSMAX</a:t>
            </a:r>
            <a:endParaRPr/>
          </a:p>
        </p:txBody>
      </p:sp>
      <p:sp>
        <p:nvSpPr>
          <p:cNvPr id="728" name="Google Shape;728;p51"/>
          <p:cNvSpPr txBox="1"/>
          <p:nvPr/>
        </p:nvSpPr>
        <p:spPr>
          <a:xfrm>
            <a:off x="8461474" y="3433762"/>
            <a:ext cx="2825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Few Floors (&lt;0.1):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9.2%</a:t>
            </a:r>
            <a:endParaRPr/>
          </a:p>
        </p:txBody>
      </p:sp>
      <p:sp>
        <p:nvSpPr>
          <p:cNvPr id="729" name="Google Shape;729;p51"/>
          <p:cNvSpPr txBox="1"/>
          <p:nvPr/>
        </p:nvSpPr>
        <p:spPr>
          <a:xfrm>
            <a:off x="8461474" y="3738562"/>
            <a:ext cx="28257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High Rise: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4.9%</a:t>
            </a:r>
            <a:endParaRPr/>
          </a:p>
        </p:txBody>
      </p:sp>
      <p:sp>
        <p:nvSpPr>
          <p:cNvPr id="730" name="Google Shape;730;p51"/>
          <p:cNvSpPr txBox="1"/>
          <p:nvPr/>
        </p:nvSpPr>
        <p:spPr>
          <a:xfrm>
            <a:off x="809625" y="571500"/>
            <a:ext cx="113514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LIVING CONDITIONS &amp; MOBILITY</a:t>
            </a:r>
            <a:endParaRPr/>
          </a:p>
        </p:txBody>
      </p:sp>
      <p:sp>
        <p:nvSpPr>
          <p:cNvPr id="731" name="Google Shape;731;p51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1"/>
          <p:cNvSpPr/>
          <p:nvPr/>
        </p:nvSpPr>
        <p:spPr>
          <a:xfrm rot="5400000">
            <a:off x="-4521300" y="5416050"/>
            <a:ext cx="94998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6493"/>
            <a:ext cx="3492550" cy="29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800" y="2576492"/>
            <a:ext cx="3492550" cy="29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100" y="2576493"/>
            <a:ext cx="3492550" cy="29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2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904875" y="2967037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Risk_Report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904975" y="3398825"/>
            <a:ext cx="3036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 report explaining the importance</a:t>
            </a:r>
            <a:br>
              <a:rPr lang="en-US" sz="150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of each feature;.</a:t>
            </a:r>
            <a:endParaRPr/>
          </a:p>
        </p:txBody>
      </p:sp>
      <p:sp>
        <p:nvSpPr>
          <p:cNvPr id="744" name="Google Shape;744;p52"/>
          <p:cNvSpPr txBox="1"/>
          <p:nvPr/>
        </p:nvSpPr>
        <p:spPr>
          <a:xfrm>
            <a:off x="904925" y="4107825"/>
            <a:ext cx="2967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52"/>
          <p:cNvSpPr txBox="1"/>
          <p:nvPr/>
        </p:nvSpPr>
        <p:spPr>
          <a:xfrm>
            <a:off x="4683174" y="2967037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num_analysis</a:t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4683174" y="3433762"/>
            <a:ext cx="28257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Sheet of the most important Numerical factors affecting the risk ratio,  and its categories sorted from most important to least important.</a:t>
            </a:r>
            <a:endParaRPr sz="1500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" name="Google Shape;747;p52"/>
          <p:cNvSpPr txBox="1"/>
          <p:nvPr/>
        </p:nvSpPr>
        <p:spPr>
          <a:xfrm>
            <a:off x="8461474" y="2967037"/>
            <a:ext cx="29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1E3E"/>
                </a:solidFill>
                <a:latin typeface="Montserrat"/>
                <a:ea typeface="Montserrat"/>
                <a:cs typeface="Montserrat"/>
                <a:sym typeface="Montserrat"/>
              </a:rPr>
              <a:t>cat_analysis</a:t>
            </a:r>
            <a:endParaRPr/>
          </a:p>
        </p:txBody>
      </p:sp>
      <p:sp>
        <p:nvSpPr>
          <p:cNvPr id="748" name="Google Shape;748;p52"/>
          <p:cNvSpPr txBox="1"/>
          <p:nvPr/>
        </p:nvSpPr>
        <p:spPr>
          <a:xfrm>
            <a:off x="8461474" y="3433762"/>
            <a:ext cx="28257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Sheet of the most important categorical factors affecting the risk ratio,  and its categories sorted from most important to least important.</a:t>
            </a:r>
            <a:endParaRPr sz="1500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9" name="Google Shape;749;p52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latin typeface="Montserrat"/>
                <a:ea typeface="Montserrat"/>
                <a:cs typeface="Montserrat"/>
                <a:sym typeface="Montserrat"/>
              </a:rPr>
              <a:t>ATTACHED</a:t>
            </a:r>
            <a:endParaRPr/>
          </a:p>
        </p:txBody>
      </p:sp>
      <p:sp>
        <p:nvSpPr>
          <p:cNvPr id="750" name="Google Shape;750;p52"/>
          <p:cNvSpPr/>
          <p:nvPr/>
        </p:nvSpPr>
        <p:spPr>
          <a:xfrm>
            <a:off x="571500" y="571500"/>
            <a:ext cx="95400" cy="5145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2"/>
          <p:cNvSpPr/>
          <p:nvPr/>
        </p:nvSpPr>
        <p:spPr>
          <a:xfrm>
            <a:off x="3233475" y="965100"/>
            <a:ext cx="9499800" cy="1143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1572</Words>
  <Application>Microsoft Office PowerPoint</Application>
  <PresentationFormat>Widescreen</PresentationFormat>
  <Paragraphs>256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Calibri</vt:lpstr>
      <vt:lpstr>Lato</vt:lpstr>
      <vt:lpstr>Arial</vt:lpstr>
      <vt:lpstr>Aptos</vt:lpstr>
      <vt:lpstr>Urbanist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Mina Fakhry, Vodafone</cp:lastModifiedBy>
  <cp:revision>1</cp:revision>
  <dcterms:modified xsi:type="dcterms:W3CDTF">2026-05-06T17:02:56Z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373536-36c5-4fd9-8140-7ddebb8b4638_Enabled">
    <vt:lpwstr>true</vt:lpwstr>
  </property>
  <property fmtid="{D5CDD505-2E9C-101B-9397-08002B2CF9AE}" pid="3" name="MSIP_Label_7f373536-36c5-4fd9-8140-7ddebb8b4638_SetDate">
    <vt:lpwstr>2026-05-06T17:02:54Z</vt:lpwstr>
  </property>
  <property fmtid="{D5CDD505-2E9C-101B-9397-08002B2CF9AE}" pid="4" name="MSIP_Label_7f373536-36c5-4fd9-8140-7ddebb8b4638_Method">
    <vt:lpwstr>Standard</vt:lpwstr>
  </property>
  <property fmtid="{D5CDD505-2E9C-101B-9397-08002B2CF9AE}" pid="5" name="MSIP_Label_7f373536-36c5-4fd9-8140-7ddebb8b4638_Name">
    <vt:lpwstr>C2 General</vt:lpwstr>
  </property>
  <property fmtid="{D5CDD505-2E9C-101B-9397-08002B2CF9AE}" pid="6" name="MSIP_Label_7f373536-36c5-4fd9-8140-7ddebb8b4638_SiteId">
    <vt:lpwstr>28d54ec7-2221-4717-acb0-7f8c37359048</vt:lpwstr>
  </property>
  <property fmtid="{D5CDD505-2E9C-101B-9397-08002B2CF9AE}" pid="7" name="MSIP_Label_7f373536-36c5-4fd9-8140-7ddebb8b4638_ActionId">
    <vt:lpwstr>348cb367-f8c0-49cf-8413-bc35ba79e1c0</vt:lpwstr>
  </property>
  <property fmtid="{D5CDD505-2E9C-101B-9397-08002B2CF9AE}" pid="8" name="MSIP_Label_7f373536-36c5-4fd9-8140-7ddebb8b4638_ContentBits">
    <vt:lpwstr>2</vt:lpwstr>
  </property>
  <property fmtid="{D5CDD505-2E9C-101B-9397-08002B2CF9AE}" pid="9" name="MSIP_Label_7f373536-36c5-4fd9-8140-7ddebb8b463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C2 General</vt:lpwstr>
  </property>
</Properties>
</file>